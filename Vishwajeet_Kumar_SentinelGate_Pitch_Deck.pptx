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vishwajeetkumar9631/sentinelgate-agentic-securit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9E3AC"/>
                </a:solidFill>
                <a:latin typeface="Cascadia Mono"/>
              </a:defRPr>
            </a:pPr>
            <a:r>
              <a:t>ET AI HACKATHON: AGENTIC EDITION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6809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8CA39F"/>
                </a:solidFill>
                <a:latin typeface="Aptos"/>
              </a:defRPr>
            </a:pPr>
            <a:r>
              <a:t>Presented by Accenture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FB9FF"/>
                </a:solidFill>
                <a:latin typeface="Cascadia Mono"/>
              </a:defRPr>
            </a:pPr>
            <a:r>
              <a:t>TEAM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394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800" b="1">
                <a:solidFill>
                  <a:srgbClr val="EDF5F1"/>
                </a:solidFill>
                <a:latin typeface="Aptos Display"/>
              </a:defRPr>
            </a:pPr>
            <a:r>
              <a:t>SentinelGate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4028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69E3AC"/>
                </a:solidFill>
                <a:latin typeface="Aptos"/>
              </a:defRPr>
            </a:pPr>
            <a:r>
              <a:t>Zero-Trust Prompt Injection Firewall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89504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0">
                <a:solidFill>
                  <a:srgbClr val="EDF5F1"/>
                </a:solidFill>
                <a:latin typeface="Aptos"/>
              </a:defRPr>
            </a:pPr>
            <a:r>
              <a:t>Inspect before the agent can 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502152"/>
            <a:ext cx="1600200" cy="310896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69E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575304"/>
            <a:ext cx="1600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69E3AC"/>
                </a:solidFill>
                <a:latin typeface="Cascadia Mono"/>
              </a:defRPr>
            </a:pPr>
            <a:r>
              <a:t>PROBLEM STATEMENT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59152" y="3502152"/>
            <a:ext cx="1508760" cy="310896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6F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9152" y="3575304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6FB9FF"/>
                </a:solidFill>
                <a:latin typeface="Cascadia Mono"/>
              </a:defRPr>
            </a:pPr>
            <a:r>
              <a:t>F3 · 9/9 ATTACKS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32504" y="3502152"/>
            <a:ext cx="1234440" cy="310896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F2B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32504" y="3575304"/>
            <a:ext cx="12344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F2BD63"/>
                </a:solidFill>
                <a:latin typeface="Cascadia Mono"/>
              </a:defRPr>
            </a:pPr>
            <a:r>
              <a:t>D2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590288"/>
            <a:ext cx="5349240" cy="1234440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26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9E3AC"/>
                </a:solidFill>
                <a:latin typeface="Cascadia Mono"/>
              </a:defRPr>
            </a:pPr>
            <a:r>
              <a:t>SOLO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0235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EDF5F1"/>
                </a:solidFill>
                <a:latin typeface="Cascadia Mono"/>
              </a:defRPr>
            </a:pPr>
            <a:r>
              <a:t>VISHWAJEET KUMAR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68112"/>
            <a:ext cx="44805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8CA39F"/>
                </a:solidFill>
                <a:latin typeface="Aptos"/>
              </a:defRPr>
            </a:pPr>
            <a:r>
              <a:t>Builder · AI security engineer · Presenter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566928"/>
            <a:ext cx="5138928" cy="5623560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69E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896112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9E3AC"/>
                </a:solidFill>
                <a:latin typeface="Cascadia Mono"/>
              </a:defRPr>
            </a:pPr>
            <a:r>
              <a:t>SOLUTION AT A GLANCE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1243584"/>
            <a:ext cx="422452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EDF5F1"/>
                </a:solidFill>
                <a:latin typeface="Aptos"/>
              </a:defRPr>
            </a:pPr>
            <a:r>
              <a:t>Untrusted inputs become controlled data—not agent authority.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39712" y="2057400"/>
            <a:ext cx="4315968" cy="749808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FF7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22592" y="222199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747C"/>
                </a:solidFill>
                <a:latin typeface="Cascadia Mono"/>
              </a:defRPr>
            </a:pPr>
            <a: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4" y="217627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EDF5F1"/>
                </a:solidFill>
                <a:latin typeface="Aptos"/>
              </a:defRPr>
            </a:pPr>
            <a:r>
              <a:t>UNTRUSTED CONTENT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1504" y="2441448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8CA39F"/>
                </a:solidFill>
                <a:latin typeface="Aptos"/>
              </a:defRPr>
            </a:pPr>
            <a:r>
              <a:t>Chat · files · web · email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9952" y="282549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>
                <a:solidFill>
                  <a:srgbClr val="69E3AC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39712" y="3090672"/>
            <a:ext cx="4315968" cy="749808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69E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22592" y="3255264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9E3AC"/>
                </a:solidFill>
                <a:latin typeface="Cascadia Mono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1504" y="3209544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EDF5F1"/>
                </a:solidFill>
                <a:latin typeface="Aptos"/>
              </a:defRPr>
            </a:pPr>
            <a:r>
              <a:t>SENTINELGATE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1504" y="3474720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8CA39F"/>
                </a:solidFill>
                <a:latin typeface="Aptos"/>
              </a:defRPr>
            </a:pPr>
            <a:r>
              <a:t>Inspect · decide · enforce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59952" y="385876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>
                <a:solidFill>
                  <a:srgbClr val="69E3AC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39712" y="4123944"/>
            <a:ext cx="4315968" cy="749808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6F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22592" y="42885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FB9FF"/>
                </a:solidFill>
                <a:latin typeface="Cascadia Mono"/>
              </a:defRPr>
            </a:pPr>
            <a: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61504" y="4242816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EDF5F1"/>
                </a:solidFill>
                <a:latin typeface="Aptos"/>
              </a:defRPr>
            </a:pPr>
            <a:r>
              <a:t>PROTECTED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1504" y="4507992"/>
            <a:ext cx="3337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8CA39F"/>
                </a:solidFill>
                <a:latin typeface="Aptos"/>
              </a:defRPr>
            </a:pPr>
            <a:r>
              <a:t>Signed data · least privilege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4848" y="5715000"/>
            <a:ext cx="43708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>
                <a:solidFill>
                  <a:srgbClr val="F2BD63"/>
                </a:solidFill>
                <a:latin typeface="Cascadia Mono"/>
              </a:defRPr>
            </a:pPr>
            <a:r>
              <a:t>WORKING PROTOTYPE  ·  LIVE QUARANTINE  ·  AUDITABLE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9E3AC"/>
                </a:solidFill>
                <a:latin typeface="Cascadia Mono"/>
              </a:defRPr>
            </a:pPr>
            <a:r>
              <a:t>AGENTSHIELD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237744"/>
            <a:ext cx="2487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0">
                <a:solidFill>
                  <a:srgbClr val="8CA39F"/>
                </a:solidFill>
                <a:latin typeface="Cascadia Mono"/>
              </a:defRPr>
            </a:pPr>
            <a:r>
              <a:t>ET AI HACKATHON · AGENTIC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9E3AC"/>
                </a:solidFill>
                <a:latin typeface="Cascadia Mono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EDF5F1"/>
                </a:solidFill>
                <a:latin typeface="Aptos Display"/>
              </a:defRPr>
            </a:pPr>
            <a:r>
              <a:t>Untrusted content can become agent authority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11183111" cy="9144"/>
          </a:xfrm>
          <a:prstGeom prst="rect">
            <a:avLst/>
          </a:prstGeom>
          <a:solidFill>
            <a:srgbClr val="264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65992" y="651967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>
                <a:solidFill>
                  <a:srgbClr val="8CA39F"/>
                </a:solidFill>
                <a:latin typeface="Cascadia Mono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1051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FF747C"/>
                </a:solidFill>
                <a:latin typeface="Cascadia Mono"/>
              </a:defRPr>
            </a:pPr>
            <a:r>
              <a:t>THE BRIEF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4892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EDF5F1"/>
                </a:solidFill>
                <a:latin typeface="Aptos"/>
              </a:defRPr>
            </a:pPr>
            <a:r>
              <a:t>Detect and neutralize malicious instructions before they influence an AI agent—while legitimate content passes with minimal disruption.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307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F2BD63"/>
                </a:solidFill>
                <a:latin typeface="Cascadia Mono"/>
              </a:defRPr>
            </a:pPr>
            <a: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41648"/>
            <a:ext cx="4800600" cy="164592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EDF5F1"/>
                </a:solidFill>
                <a:latin typeface="Aptos"/>
              </a:defRPr>
            </a:pPr>
            <a:r>
              <a:t>  Secret and credential extraction</a:t>
            </a:r>
          </a:p>
          <a:p>
            <a:pPr>
              <a:spcAft>
                <a:spcPts val="1000"/>
              </a:spcAft>
              <a:defRPr sz="1500">
                <a:solidFill>
                  <a:srgbClr val="EDF5F1"/>
                </a:solidFill>
                <a:latin typeface="Aptos"/>
              </a:defRPr>
            </a:pPr>
            <a:r>
              <a:t>  Unauthorized tool execution</a:t>
            </a:r>
          </a:p>
          <a:p>
            <a:pPr>
              <a:spcAft>
                <a:spcPts val="1000"/>
              </a:spcAft>
              <a:defRPr sz="1500">
                <a:solidFill>
                  <a:srgbClr val="EDF5F1"/>
                </a:solidFill>
                <a:latin typeface="Aptos"/>
              </a:defRPr>
            </a:pPr>
            <a:r>
              <a:t>  Context poisoning across turns</a:t>
            </a:r>
          </a:p>
          <a:p>
            <a:pPr>
              <a:spcAft>
                <a:spcPts val="1000"/>
              </a:spcAft>
              <a:defRPr sz="1500">
                <a:solidFill>
                  <a:srgbClr val="EDF5F1"/>
                </a:solidFill>
                <a:latin typeface="Aptos"/>
              </a:defRPr>
            </a:pPr>
            <a:r>
              <a:t>  Indirect attacks hidden in retrieved content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114800"/>
            <a:ext cx="100584" cy="100584"/>
          </a:xfrm>
          <a:prstGeom prst="ellipse">
            <a:avLst/>
          </a:prstGeom>
          <a:solidFill>
            <a:srgbClr val="FF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" y="4544568"/>
            <a:ext cx="100584" cy="100584"/>
          </a:xfrm>
          <a:prstGeom prst="ellipse">
            <a:avLst/>
          </a:prstGeom>
          <a:solidFill>
            <a:srgbClr val="FF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" y="4974336"/>
            <a:ext cx="100584" cy="100584"/>
          </a:xfrm>
          <a:prstGeom prst="ellipse">
            <a:avLst/>
          </a:prstGeom>
          <a:solidFill>
            <a:srgbClr val="FF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4360" y="5404104"/>
            <a:ext cx="100584" cy="100584"/>
          </a:xfrm>
          <a:prstGeom prst="ellipse">
            <a:avLst/>
          </a:prstGeom>
          <a:solidFill>
            <a:srgbClr val="FF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79592" y="1828800"/>
            <a:ext cx="5751576" cy="3255264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FF7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2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847088"/>
            <a:ext cx="5715000" cy="32186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97880" y="534009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8CA39F"/>
                </a:solidFill>
                <a:latin typeface="Cascadia Mono"/>
              </a:defRPr>
            </a:pPr>
            <a:r>
              <a:t>INPUT SURFACE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5623560"/>
            <a:ext cx="5623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EDF5F1"/>
                </a:solidFill>
                <a:latin typeface="Aptos"/>
              </a:defRPr>
            </a:pPr>
            <a:r>
              <a:t>Chat · Web · Email · PDF · DOCX · HTML · API · Code · OCR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9E3AC"/>
                </a:solidFill>
                <a:latin typeface="Cascadia Mono"/>
              </a:defRPr>
            </a:pPr>
            <a:r>
              <a:t>AGENTSHIELD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237744"/>
            <a:ext cx="2487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0">
                <a:solidFill>
                  <a:srgbClr val="8CA39F"/>
                </a:solidFill>
                <a:latin typeface="Cascadia Mono"/>
              </a:defRPr>
            </a:pPr>
            <a:r>
              <a:t>ET AI HACKATHON · AGENTIC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9E3AC"/>
                </a:solidFill>
                <a:latin typeface="Cascadia Mono"/>
              </a:defRPr>
            </a:pPr>
            <a: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EDF5F1"/>
                </a:solidFill>
                <a:latin typeface="Aptos Display"/>
              </a:defRPr>
            </a:pPr>
            <a:r>
              <a:t>Security decisions live outside the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11183111" cy="9144"/>
          </a:xfrm>
          <a:prstGeom prst="rect">
            <a:avLst/>
          </a:prstGeom>
          <a:solidFill>
            <a:srgbClr val="264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65992" y="651967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>
                <a:solidFill>
                  <a:srgbClr val="8CA39F"/>
                </a:solidFill>
                <a:latin typeface="Cascadia Mono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EDF5F1"/>
                </a:solidFill>
                <a:latin typeface="Aptos"/>
              </a:defRPr>
            </a:pPr>
            <a:r>
              <a:t>SentinelGate is a security control plane between untrusted content and trusted agent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788920"/>
            <a:ext cx="2064715" cy="1051560"/>
          </a:xfrm>
          <a:prstGeom prst="roundRect">
            <a:avLst/>
          </a:prstGeom>
          <a:solidFill>
            <a:srgbClr val="091A20"/>
          </a:solidFill>
          <a:ln w="19050">
            <a:solidFill>
              <a:srgbClr val="6F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907791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FB9FF"/>
                </a:solidFill>
                <a:latin typeface="Cascadia Mono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172968"/>
            <a:ext cx="18269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EDF5F1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474720"/>
            <a:ext cx="18269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8CA39F"/>
                </a:solidFill>
                <a:latin typeface="Cascadia Mono"/>
              </a:defRPr>
            </a:pPr>
            <a:r>
              <a:t>multiformat + hidden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9075" y="318211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1">
                <a:solidFill>
                  <a:srgbClr val="69E3AC"/>
                </a:solidFill>
                <a:latin typeface="Cascadia Mono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2811" y="2788920"/>
            <a:ext cx="2064715" cy="1051560"/>
          </a:xfrm>
          <a:prstGeom prst="roundRect">
            <a:avLst/>
          </a:prstGeom>
          <a:solidFill>
            <a:srgbClr val="091A20"/>
          </a:solidFill>
          <a:ln w="19050">
            <a:solidFill>
              <a:srgbClr val="F2B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51683" y="2907791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2BD63"/>
                </a:solidFill>
                <a:latin typeface="Cascadia Mono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1683" y="3172968"/>
            <a:ext cx="18269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EDF5F1"/>
                </a:solidFill>
                <a:latin typeface="Aptos"/>
              </a:defRPr>
            </a:pPr>
            <a:r>
              <a:t>Decode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1683" y="3474720"/>
            <a:ext cx="18269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8CA39F"/>
                </a:solidFill>
                <a:latin typeface="Cascadia Mono"/>
              </a:defRPr>
            </a:pPr>
            <a:r>
              <a:t>Unicode · Base64 · hex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7526" y="318211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1">
                <a:solidFill>
                  <a:srgbClr val="69E3AC"/>
                </a:solidFill>
                <a:latin typeface="Cascadia Mono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71262" y="2788920"/>
            <a:ext cx="2064715" cy="1051560"/>
          </a:xfrm>
          <a:prstGeom prst="roundRect">
            <a:avLst/>
          </a:prstGeom>
          <a:solidFill>
            <a:srgbClr val="091A20"/>
          </a:solidFill>
          <a:ln w="19050">
            <a:solidFill>
              <a:srgbClr val="69E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90134" y="2907791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9E3AC"/>
                </a:solidFill>
                <a:latin typeface="Cascadia Mono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0134" y="3172968"/>
            <a:ext cx="18269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EDF5F1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0134" y="3474720"/>
            <a:ext cx="18269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8CA39F"/>
                </a:solidFill>
                <a:latin typeface="Cascadia Mono"/>
              </a:defRPr>
            </a:pPr>
            <a:r>
              <a:t>rules + semantic +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5977" y="318211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1">
                <a:solidFill>
                  <a:srgbClr val="69E3AC"/>
                </a:solidFill>
                <a:latin typeface="Cascadia Mono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09713" y="2788920"/>
            <a:ext cx="2064715" cy="1051560"/>
          </a:xfrm>
          <a:prstGeom prst="roundRect">
            <a:avLst/>
          </a:prstGeom>
          <a:solidFill>
            <a:srgbClr val="091A20"/>
          </a:solidFill>
          <a:ln w="19050">
            <a:solidFill>
              <a:srgbClr val="FF7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28585" y="2907791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747C"/>
                </a:solidFill>
                <a:latin typeface="Cascadia Mono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8585" y="3172968"/>
            <a:ext cx="18269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EDF5F1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8585" y="3474720"/>
            <a:ext cx="18269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8CA39F"/>
                </a:solidFill>
                <a:latin typeface="Cascadia Mono"/>
              </a:defRPr>
            </a:pPr>
            <a:r>
              <a:t>allow · quarantine · block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4428" y="318211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1">
                <a:solidFill>
                  <a:srgbClr val="69E3AC"/>
                </a:solidFill>
                <a:latin typeface="Cascadia Mono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48164" y="2788920"/>
            <a:ext cx="2064715" cy="1051560"/>
          </a:xfrm>
          <a:prstGeom prst="roundRect">
            <a:avLst/>
          </a:prstGeom>
          <a:solidFill>
            <a:srgbClr val="091A20"/>
          </a:solidFill>
          <a:ln w="19050">
            <a:solidFill>
              <a:srgbClr val="69E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67036" y="2907791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9E3AC"/>
                </a:solidFill>
                <a:latin typeface="Cascadia Mono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67036" y="3172968"/>
            <a:ext cx="18269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EDF5F1"/>
                </a:solidFill>
                <a:latin typeface="Aptos"/>
              </a:defRPr>
            </a:pPr>
            <a:r>
              <a:t>Enforce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7036" y="3474720"/>
            <a:ext cx="18269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8CA39F"/>
                </a:solidFill>
                <a:latin typeface="Cascadia Mono"/>
              </a:defRPr>
            </a:pPr>
            <a:r>
              <a:t>signed context + tool gate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407408"/>
            <a:ext cx="5321808" cy="658368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26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" y="4526280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9E3AC"/>
                </a:solidFill>
                <a:latin typeface="Aptos"/>
              </a:defRPr>
            </a:pPr>
            <a:r>
              <a:t>Signed context broker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16352" y="4517136"/>
            <a:ext cx="28986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8CA39F"/>
                </a:solidFill>
                <a:latin typeface="Aptos"/>
              </a:defRPr>
            </a:pPr>
            <a:r>
              <a:t>Blocked content becomes an empty payload—not a warning the agent may ignore.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4407408"/>
            <a:ext cx="5321808" cy="658368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26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36792" y="4526280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9E3AC"/>
                </a:solidFill>
                <a:latin typeface="Aptos"/>
              </a:defRPr>
            </a:pPr>
            <a:r>
              <a:t>Immutable intent anchor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4517136"/>
            <a:ext cx="28986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8CA39F"/>
                </a:solidFill>
                <a:latin typeface="Aptos"/>
              </a:defRPr>
            </a:pPr>
            <a:r>
              <a:t>Detects semantic drift and multi-turn jailbreaks across the session.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239512"/>
            <a:ext cx="5321808" cy="658368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26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8952" y="5358384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9E3AC"/>
                </a:solidFill>
                <a:latin typeface="Aptos"/>
              </a:defRPr>
            </a:pPr>
            <a:r>
              <a:t>Least-privilege tool gate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16352" y="5349240"/>
            <a:ext cx="28986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8CA39F"/>
                </a:solidFill>
                <a:latin typeface="Aptos"/>
              </a:defRPr>
            </a:pPr>
            <a:r>
              <a:t>Server-side permissions, strict schemas, destination policy, confirmation.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5239512"/>
            <a:ext cx="5321808" cy="658368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26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36792" y="5358384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9E3AC"/>
                </a:solidFill>
                <a:latin typeface="Aptos"/>
              </a:defRPr>
            </a:pPr>
            <a:r>
              <a:t>Output + evidence guard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4192" y="5349240"/>
            <a:ext cx="28986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8CA39F"/>
                </a:solidFill>
                <a:latin typeface="Aptos"/>
              </a:defRPr>
            </a:pPr>
            <a:r>
              <a:t>Redaction, honey-canaries, and a verifiable SHA-256 audit chain.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9E3AC"/>
                </a:solidFill>
                <a:latin typeface="Cascadia Mono"/>
              </a:defRPr>
            </a:pPr>
            <a:r>
              <a:t>AGENTSHIELD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237744"/>
            <a:ext cx="2487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0">
                <a:solidFill>
                  <a:srgbClr val="8CA39F"/>
                </a:solidFill>
                <a:latin typeface="Cascadia Mono"/>
              </a:defRPr>
            </a:pPr>
            <a:r>
              <a:t>ET AI HACKATHON · AGENTIC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9E3AC"/>
                </a:solidFill>
                <a:latin typeface="Cascadia Mono"/>
              </a:defRPr>
            </a:pPr>
            <a:r>
              <a:t>REQUIREMENT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EDF5F1"/>
                </a:solidFill>
                <a:latin typeface="Aptos Display"/>
              </a:defRPr>
            </a:pPr>
            <a:r>
              <a:t>F3 implemented · D2 verified · D3 conditional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11183111" cy="9144"/>
          </a:xfrm>
          <a:prstGeom prst="rect">
            <a:avLst/>
          </a:prstGeom>
          <a:solidFill>
            <a:srgbClr val="264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65992" y="651967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>
                <a:solidFill>
                  <a:srgbClr val="8CA39F"/>
                </a:solidFill>
                <a:latin typeface="Cascadia Mono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69E3AC"/>
                </a:solidFill>
                <a:latin typeface="Aptos"/>
              </a:rPr>
              <a:t>F3 </a:t>
            </a:r>
            <a:r>
              <a:rPr sz="1700" b="0">
                <a:solidFill>
                  <a:srgbClr val="EDF5F1"/>
                </a:solidFill>
                <a:latin typeface="Aptos"/>
              </a:rPr>
              <a:t>requires ≥7 attack families. SentinelGate demonstrates </a:t>
            </a:r>
            <a:r>
              <a:rPr sz="1700" b="1">
                <a:solidFill>
                  <a:srgbClr val="69E3AC"/>
                </a:solidFill>
                <a:latin typeface="Aptos"/>
              </a:rPr>
              <a:t>9/9.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313432"/>
            <a:ext cx="2011680" cy="530352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69E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478024"/>
            <a:ext cx="2560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9E3AC"/>
                </a:solidFill>
                <a:latin typeface="Cascadia Mono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59736"/>
            <a:ext cx="14813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DF5F1"/>
                </a:solidFill>
                <a:latin typeface="Aptos"/>
              </a:defRPr>
            </a:pPr>
            <a:r>
              <a:t>Instruction Override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7208" y="2313432"/>
            <a:ext cx="2011680" cy="530352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69E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6936" y="2478024"/>
            <a:ext cx="2560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9E3AC"/>
                </a:solidFill>
                <a:latin typeface="Cascadia Mono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688" y="2459736"/>
            <a:ext cx="14813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DF5F1"/>
                </a:solidFill>
                <a:latin typeface="Aptos"/>
              </a:defRPr>
            </a:pPr>
            <a:r>
              <a:t>Role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0056" y="2313432"/>
            <a:ext cx="2011680" cy="530352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69E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9784" y="2478024"/>
            <a:ext cx="2560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9E3AC"/>
                </a:solidFill>
                <a:latin typeface="Cascadia Mono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31536" y="2459736"/>
            <a:ext cx="14813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DF5F1"/>
                </a:solidFill>
                <a:latin typeface="Aptos"/>
              </a:defRPr>
            </a:pPr>
            <a:r>
              <a:t>Secret Extraction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999232"/>
            <a:ext cx="2011680" cy="530352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69E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163824"/>
            <a:ext cx="2560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9E3AC"/>
                </a:solidFill>
                <a:latin typeface="Cascadia Mono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145536"/>
            <a:ext cx="14813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DF5F1"/>
                </a:solidFill>
                <a:latin typeface="Aptos"/>
              </a:defRPr>
            </a:pPr>
            <a:r>
              <a:t>Tool Abuse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07208" y="2999232"/>
            <a:ext cx="2011680" cy="530352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69E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16936" y="3163824"/>
            <a:ext cx="2560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9E3AC"/>
                </a:solidFill>
                <a:latin typeface="Cascadia Mono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18688" y="3145536"/>
            <a:ext cx="14813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DF5F1"/>
                </a:solidFill>
                <a:latin typeface="Aptos"/>
              </a:defRPr>
            </a:pPr>
            <a:r>
              <a:t>Credential Theft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0056" y="2999232"/>
            <a:ext cx="2011680" cy="530352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69E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9784" y="3163824"/>
            <a:ext cx="2560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9E3AC"/>
                </a:solidFill>
                <a:latin typeface="Cascadia Mono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31536" y="3145536"/>
            <a:ext cx="14813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DF5F1"/>
                </a:solidFill>
                <a:latin typeface="Aptos"/>
              </a:defRPr>
            </a:pPr>
            <a:r>
              <a:t>Context Poisoning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685031"/>
            <a:ext cx="2011680" cy="530352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69E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3849623"/>
            <a:ext cx="2560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9E3AC"/>
                </a:solidFill>
                <a:latin typeface="Cascadia Mono"/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3831335"/>
            <a:ext cx="14813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DF5F1"/>
                </a:solidFill>
                <a:latin typeface="Aptos"/>
              </a:defRPr>
            </a:pPr>
            <a:r>
              <a:t>Multi-Step Jailbreak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07208" y="3685031"/>
            <a:ext cx="2011680" cy="530352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69E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16936" y="3849623"/>
            <a:ext cx="2560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9E3AC"/>
                </a:solidFill>
                <a:latin typeface="Cascadia Mono"/>
              </a:defRPr>
            </a:pPr>
            <a: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18688" y="3831335"/>
            <a:ext cx="14813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DF5F1"/>
                </a:solidFill>
                <a:latin typeface="Aptos"/>
              </a:defRPr>
            </a:pPr>
            <a:r>
              <a:t>Encoded Instructions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0056" y="3685031"/>
            <a:ext cx="2011680" cy="530352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69E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9784" y="3849623"/>
            <a:ext cx="2560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9E3AC"/>
                </a:solidFill>
                <a:latin typeface="Cascadia Mono"/>
              </a:defRPr>
            </a:pPr>
            <a:r>
              <a:t>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31536" y="3831335"/>
            <a:ext cx="14813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DF5F1"/>
                </a:solidFill>
                <a:latin typeface="Aptos"/>
              </a:defRPr>
            </a:pPr>
            <a:r>
              <a:t>Indirect Injection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06640" y="1856231"/>
            <a:ext cx="4224528" cy="2395728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69E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04_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927" y="1874519"/>
            <a:ext cx="4187952" cy="2359152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7424927" y="4498848"/>
            <a:ext cx="4187952" cy="1243584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F2B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35240" y="4690872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2BD63"/>
                </a:solidFill>
                <a:latin typeface="Cascadia Mono"/>
              </a:defRPr>
            </a:pPr>
            <a:r>
              <a:t>DEPTH CLAIM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500176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EDF5F1"/>
                </a:solidFill>
                <a:latin typeface="Aptos"/>
              </a:defRPr>
            </a:pPr>
            <a:r>
              <a:t>D2 verified locally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5349240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8CA39F"/>
                </a:solidFill>
                <a:latin typeface="Aptos"/>
              </a:defRPr>
            </a:pPr>
            <a:r>
              <a:t>D3 remains conditional until image OCR is runtime-ready and demonstrated.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9E3AC"/>
                </a:solidFill>
                <a:latin typeface="Cascadia Mono"/>
              </a:defRPr>
            </a:pPr>
            <a:r>
              <a:t>AGENTSHIELD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237744"/>
            <a:ext cx="2487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0">
                <a:solidFill>
                  <a:srgbClr val="8CA39F"/>
                </a:solidFill>
                <a:latin typeface="Cascadia Mono"/>
              </a:defRPr>
            </a:pPr>
            <a:r>
              <a:t>ET AI HACKATHON · AGENTIC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9E3AC"/>
                </a:solidFill>
                <a:latin typeface="Cascadia Mono"/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EDF5F1"/>
                </a:solidFill>
                <a:latin typeface="Aptos Display"/>
              </a:defRPr>
            </a:pPr>
            <a:r>
              <a:t>Trust boundaries and enforcement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11183111" cy="9144"/>
          </a:xfrm>
          <a:prstGeom prst="rect">
            <a:avLst/>
          </a:prstGeom>
          <a:solidFill>
            <a:srgbClr val="264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65992" y="651967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>
                <a:solidFill>
                  <a:srgbClr val="8CA39F"/>
                </a:solidFill>
                <a:latin typeface="Cascadia Mono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1051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747C"/>
                </a:solidFill>
                <a:latin typeface="Cascadia Mono"/>
              </a:defRPr>
            </a:pPr>
            <a:r>
              <a:t>UNTRUSTED INPUT ZONE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71432" y="181051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>
                <a:solidFill>
                  <a:srgbClr val="69E3AC"/>
                </a:solidFill>
                <a:latin typeface="Cascadia Mono"/>
              </a:defRPr>
            </a:pPr>
            <a:r>
              <a:t>TRUSTED EXECUTION ZONE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331720"/>
            <a:ext cx="1691640" cy="1051560"/>
          </a:xfrm>
          <a:prstGeom prst="roundRect">
            <a:avLst/>
          </a:prstGeom>
          <a:solidFill>
            <a:srgbClr val="091A20"/>
          </a:solidFill>
          <a:ln w="19050">
            <a:solidFill>
              <a:srgbClr val="FF7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450591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747C"/>
                </a:solidFill>
                <a:latin typeface="Cascadia Mono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715768"/>
            <a:ext cx="1453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EDF5F1"/>
                </a:solidFill>
                <a:latin typeface="Aptos"/>
              </a:defRPr>
            </a:pPr>
            <a:r>
              <a:t>Adapters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017520"/>
            <a:ext cx="1453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8CA39F"/>
                </a:solidFill>
                <a:latin typeface="Cascadia Mono"/>
              </a:defRPr>
            </a:pPr>
            <a:r>
              <a:t>chat · files · OCR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72491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1">
                <a:solidFill>
                  <a:srgbClr val="69E3AC"/>
                </a:solidFill>
                <a:latin typeface="Cascadia Mono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59736" y="2331720"/>
            <a:ext cx="1691640" cy="1051560"/>
          </a:xfrm>
          <a:prstGeom prst="roundRect">
            <a:avLst/>
          </a:prstGeom>
          <a:solidFill>
            <a:srgbClr val="091A20"/>
          </a:solidFill>
          <a:ln w="19050">
            <a:solidFill>
              <a:srgbClr val="6F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78608" y="2450591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FB9FF"/>
                </a:solidFill>
                <a:latin typeface="Cascadia Mono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8608" y="2715768"/>
            <a:ext cx="1453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EDF5F1"/>
                </a:solidFill>
                <a:latin typeface="Aptos"/>
              </a:defRPr>
            </a:pPr>
            <a:r>
              <a:t>Normalizer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8608" y="3017520"/>
            <a:ext cx="1453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8CA39F"/>
                </a:solidFill>
                <a:latin typeface="Cascadia Mono"/>
              </a:defRPr>
            </a:pPr>
            <a:r>
              <a:t>canonical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72491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1">
                <a:solidFill>
                  <a:srgbClr val="69E3AC"/>
                </a:solidFill>
                <a:latin typeface="Cascadia Mono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5112" y="2331720"/>
            <a:ext cx="1691640" cy="1051560"/>
          </a:xfrm>
          <a:prstGeom prst="roundRect">
            <a:avLst/>
          </a:prstGeom>
          <a:solidFill>
            <a:srgbClr val="091A20"/>
          </a:solidFill>
          <a:ln w="19050">
            <a:solidFill>
              <a:srgbClr val="69E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43984" y="2450591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9E3AC"/>
                </a:solidFill>
                <a:latin typeface="Cascadia Mono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2715768"/>
            <a:ext cx="1453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EDF5F1"/>
                </a:solidFill>
                <a:latin typeface="Aptos"/>
              </a:defRPr>
            </a:pPr>
            <a:r>
              <a:t>Ensemble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3984" y="3017520"/>
            <a:ext cx="1453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8CA39F"/>
                </a:solidFill>
                <a:latin typeface="Cascadia Mono"/>
              </a:defRPr>
            </a:pPr>
            <a:r>
              <a:t>rules · semantic ·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6752" y="272491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1">
                <a:solidFill>
                  <a:srgbClr val="69E3AC"/>
                </a:solidFill>
                <a:latin typeface="Cascadia Mono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2331720"/>
            <a:ext cx="1691640" cy="1051560"/>
          </a:xfrm>
          <a:prstGeom prst="roundRect">
            <a:avLst/>
          </a:prstGeom>
          <a:solidFill>
            <a:srgbClr val="091A20"/>
          </a:solidFill>
          <a:ln w="19050">
            <a:solidFill>
              <a:srgbClr val="F2B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450591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2BD63"/>
                </a:solidFill>
                <a:latin typeface="Cascadia Mono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715768"/>
            <a:ext cx="1453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EDF5F1"/>
                </a:solidFill>
                <a:latin typeface="Aptos"/>
              </a:defRPr>
            </a:pPr>
            <a:r>
              <a:t>Orchestrator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017520"/>
            <a:ext cx="1453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8CA39F"/>
                </a:solidFill>
                <a:latin typeface="Cascadia Mono"/>
              </a:defRPr>
            </a:pPr>
            <a:r>
              <a:t>risk + policy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8" y="272491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1">
                <a:solidFill>
                  <a:srgbClr val="69E3AC"/>
                </a:solidFill>
                <a:latin typeface="Cascadia Mono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55864" y="2331720"/>
            <a:ext cx="1691640" cy="1051560"/>
          </a:xfrm>
          <a:prstGeom prst="roundRect">
            <a:avLst/>
          </a:prstGeom>
          <a:solidFill>
            <a:srgbClr val="091A20"/>
          </a:solidFill>
          <a:ln w="19050">
            <a:solidFill>
              <a:srgbClr val="69E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74736" y="2450591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9E3AC"/>
                </a:solidFill>
                <a:latin typeface="Cascadia Mono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4736" y="2715768"/>
            <a:ext cx="1453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EDF5F1"/>
                </a:solidFill>
                <a:latin typeface="Aptos"/>
              </a:defRPr>
            </a:pPr>
            <a:r>
              <a:t>Context broker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3017520"/>
            <a:ext cx="1453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8CA39F"/>
                </a:solidFill>
                <a:latin typeface="Cascadia Mono"/>
              </a:defRPr>
            </a:pPr>
            <a:r>
              <a:t>signed data envelope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7504" y="2724912"/>
            <a:ext cx="1737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1">
                <a:solidFill>
                  <a:srgbClr val="69E3AC"/>
                </a:solidFill>
                <a:latin typeface="Cascadia Mono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21240" y="2331720"/>
            <a:ext cx="1691640" cy="1051560"/>
          </a:xfrm>
          <a:prstGeom prst="roundRect">
            <a:avLst/>
          </a:prstGeom>
          <a:solidFill>
            <a:srgbClr val="091A20"/>
          </a:solidFill>
          <a:ln w="19050">
            <a:solidFill>
              <a:srgbClr val="6F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40112" y="2450591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FB9FF"/>
                </a:solidFill>
                <a:latin typeface="Cascadia Mono"/>
              </a:defRPr>
            </a:pPr>
            <a: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40112" y="2715768"/>
            <a:ext cx="1453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EDF5F1"/>
                </a:solidFill>
                <a:latin typeface="Aptos"/>
              </a:defRPr>
            </a:pPr>
            <a:r>
              <a:t>Agent + tools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40112" y="3017520"/>
            <a:ext cx="1453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8CA39F"/>
                </a:solidFill>
                <a:latin typeface="Cascadia Mono"/>
              </a:defRPr>
            </a:pPr>
            <a:r>
              <a:t>least privilege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3822191"/>
            <a:ext cx="10789920" cy="18288"/>
          </a:xfrm>
          <a:prstGeom prst="rect">
            <a:avLst/>
          </a:prstGeom>
          <a:solidFill>
            <a:srgbClr val="264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94360" y="4160520"/>
            <a:ext cx="2542032" cy="1078992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26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" y="4334256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9E3AC"/>
                </a:solidFill>
                <a:latin typeface="Cascadia Mono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4306824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EDF5F1"/>
                </a:solidFill>
                <a:latin typeface="Aptos"/>
              </a:defRPr>
            </a:pPr>
            <a:r>
              <a:t>Intent contract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" y="4736592"/>
            <a:ext cx="22128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8CA39F"/>
                </a:solidFill>
                <a:latin typeface="Aptos"/>
              </a:defRPr>
            </a:pPr>
            <a:r>
              <a:t>Immutable session objective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83279" y="4160520"/>
            <a:ext cx="2542032" cy="1078992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26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29584" y="4334256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9E3AC"/>
                </a:solidFill>
                <a:latin typeface="Cascadia Mono"/>
              </a:defRPr>
            </a:pPr>
            <a:r>
              <a:t>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86200" y="4306824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EDF5F1"/>
                </a:solidFill>
                <a:latin typeface="Aptos"/>
              </a:defRPr>
            </a:pPr>
            <a:r>
              <a:t>Tool gate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9584" y="4736592"/>
            <a:ext cx="22128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8CA39F"/>
                </a:solidFill>
                <a:latin typeface="Aptos"/>
              </a:defRPr>
            </a:pPr>
            <a:r>
              <a:t>Authorization + schemas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72200" y="4160520"/>
            <a:ext cx="2542032" cy="1078992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26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18504" y="4334256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9E3AC"/>
                </a:solidFill>
                <a:latin typeface="Cascadia Mono"/>
              </a:defRPr>
            </a:pPr>
            <a: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4306824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EDF5F1"/>
                </a:solidFill>
                <a:latin typeface="Aptos"/>
              </a:defRPr>
            </a:pPr>
            <a:r>
              <a:t>Output guard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18504" y="4736592"/>
            <a:ext cx="22128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8CA39F"/>
                </a:solidFill>
                <a:latin typeface="Aptos"/>
              </a:defRPr>
            </a:pPr>
            <a:r>
              <a:t>Secrets + PII + canary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61119" y="4160520"/>
            <a:ext cx="2542032" cy="1078992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26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07424" y="4334256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9E3AC"/>
                </a:solidFill>
                <a:latin typeface="Cascadia Mono"/>
              </a:defRPr>
            </a:pPr>
            <a:r>
              <a:t>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64040" y="4306824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EDF5F1"/>
                </a:solidFill>
                <a:latin typeface="Aptos"/>
              </a:defRPr>
            </a:pPr>
            <a:r>
              <a:t>Evidence ledger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07424" y="4736592"/>
            <a:ext cx="22128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8CA39F"/>
                </a:solidFill>
                <a:latin typeface="Aptos"/>
              </a:defRPr>
            </a:pPr>
            <a:r>
              <a:t>Hash-chained decisions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568756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1">
                <a:solidFill>
                  <a:srgbClr val="69E3AC"/>
                </a:solidFill>
                <a:latin typeface="Aptos"/>
              </a:defRPr>
            </a:pPr>
            <a:r>
              <a:t>Fail-closed rule: residual malicious content or policy failure never reaches the agent.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9E3AC"/>
                </a:solidFill>
                <a:latin typeface="Cascadia Mono"/>
              </a:defRPr>
            </a:pPr>
            <a:r>
              <a:t>AGENTSHIELD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237744"/>
            <a:ext cx="2487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0">
                <a:solidFill>
                  <a:srgbClr val="8CA39F"/>
                </a:solidFill>
                <a:latin typeface="Cascadia Mono"/>
              </a:defRPr>
            </a:pPr>
            <a:r>
              <a:t>ET AI HACKATHON · AGENTIC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9E3AC"/>
                </a:solidFill>
                <a:latin typeface="Cascadia Mono"/>
              </a:defRPr>
            </a:pPr>
            <a:r>
              <a:t>PRODUCT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EDF5F1"/>
                </a:solidFill>
                <a:latin typeface="Aptos Display"/>
              </a:defRPr>
            </a:pPr>
            <a:r>
              <a:t>Live firewall: mixed content → enforceable verdict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11183111" cy="9144"/>
          </a:xfrm>
          <a:prstGeom prst="rect">
            <a:avLst/>
          </a:prstGeom>
          <a:solidFill>
            <a:srgbClr val="264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65992" y="651967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>
                <a:solidFill>
                  <a:srgbClr val="8CA39F"/>
                </a:solidFill>
                <a:latin typeface="Cascadia Mono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" y="1810512"/>
            <a:ext cx="6620256" cy="3739896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FF7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_fire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28800"/>
            <a:ext cx="6583680" cy="3703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79" y="1901952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9E3AC"/>
                </a:solidFill>
                <a:latin typeface="Cascadia Mono"/>
              </a:defRPr>
            </a:pPr>
            <a:r>
              <a:t>WHAT THE DEMO PROVES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267712"/>
            <a:ext cx="3931920" cy="265176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EDF5F1"/>
                </a:solidFill>
                <a:latin typeface="Aptos"/>
              </a:defRPr>
            </a:pPr>
            <a:r>
              <a:t>  Useful revenue data is preserved</a:t>
            </a:r>
          </a:p>
          <a:p>
            <a:pPr>
              <a:spcAft>
                <a:spcPts val="1000"/>
              </a:spcAft>
              <a:defRPr sz="1500">
                <a:solidFill>
                  <a:srgbClr val="EDF5F1"/>
                </a:solidFill>
                <a:latin typeface="Aptos"/>
              </a:defRPr>
            </a:pPr>
            <a:r>
              <a:t>  Instruction override is detected</a:t>
            </a:r>
          </a:p>
          <a:p>
            <a:pPr>
              <a:spcAft>
                <a:spcPts val="1000"/>
              </a:spcAft>
              <a:defRPr sz="1500">
                <a:solidFill>
                  <a:srgbClr val="EDF5F1"/>
                </a:solidFill>
                <a:latin typeface="Aptos"/>
              </a:defRPr>
            </a:pPr>
            <a:r>
              <a:t>  Secret extraction is detected</a:t>
            </a:r>
          </a:p>
          <a:p>
            <a:pPr>
              <a:spcAft>
                <a:spcPts val="1000"/>
              </a:spcAft>
              <a:defRPr sz="1500">
                <a:solidFill>
                  <a:srgbClr val="EDF5F1"/>
                </a:solidFill>
                <a:latin typeface="Aptos"/>
              </a:defRPr>
            </a:pPr>
            <a:r>
              <a:t>  Credential theft is detected</a:t>
            </a:r>
          </a:p>
          <a:p>
            <a:pPr>
              <a:spcAft>
                <a:spcPts val="1000"/>
              </a:spcAft>
              <a:defRPr sz="1500">
                <a:solidFill>
                  <a:srgbClr val="EDF5F1"/>
                </a:solidFill>
                <a:latin typeface="Aptos"/>
              </a:defRPr>
            </a:pPr>
            <a:r>
              <a:t>  Provenance escalates indirect risk</a:t>
            </a:r>
          </a:p>
          <a:p>
            <a:pPr>
              <a:spcAft>
                <a:spcPts val="1000"/>
              </a:spcAft>
              <a:defRPr sz="1500">
                <a:solidFill>
                  <a:srgbClr val="EDF5F1"/>
                </a:solidFill>
                <a:latin typeface="Aptos"/>
              </a:defRPr>
            </a:pPr>
            <a:r>
              <a:t>  Decision includes evidence and route</a:t>
            </a:r>
          </a:p>
        </p:txBody>
      </p:sp>
      <p:sp>
        <p:nvSpPr>
          <p:cNvPr id="13" name="Oval 12"/>
          <p:cNvSpPr/>
          <p:nvPr/>
        </p:nvSpPr>
        <p:spPr>
          <a:xfrm>
            <a:off x="7498079" y="2340864"/>
            <a:ext cx="100584" cy="100584"/>
          </a:xfrm>
          <a:prstGeom prst="ellipse">
            <a:avLst/>
          </a:prstGeom>
          <a:solidFill>
            <a:srgbClr val="69E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79" y="2770632"/>
            <a:ext cx="100584" cy="100584"/>
          </a:xfrm>
          <a:prstGeom prst="ellipse">
            <a:avLst/>
          </a:prstGeom>
          <a:solidFill>
            <a:srgbClr val="69E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79" y="3200400"/>
            <a:ext cx="100584" cy="100584"/>
          </a:xfrm>
          <a:prstGeom prst="ellipse">
            <a:avLst/>
          </a:prstGeom>
          <a:solidFill>
            <a:srgbClr val="69E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79" y="3630168"/>
            <a:ext cx="100584" cy="100584"/>
          </a:xfrm>
          <a:prstGeom prst="ellipse">
            <a:avLst/>
          </a:prstGeom>
          <a:solidFill>
            <a:srgbClr val="69E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79" y="4059935"/>
            <a:ext cx="100584" cy="100584"/>
          </a:xfrm>
          <a:prstGeom prst="ellipse">
            <a:avLst/>
          </a:prstGeom>
          <a:solidFill>
            <a:srgbClr val="69E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79" y="4489704"/>
            <a:ext cx="100584" cy="100584"/>
          </a:xfrm>
          <a:prstGeom prst="ellipse">
            <a:avLst/>
          </a:prstGeom>
          <a:solidFill>
            <a:srgbClr val="69E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98079" y="5120640"/>
            <a:ext cx="914400" cy="310896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FF7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5193792"/>
            <a:ext cx="914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FF747C"/>
                </a:solidFill>
                <a:latin typeface="Cascadia Mono"/>
              </a:defRPr>
            </a:pPr>
            <a:r>
              <a:t>BLOCK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77072" y="5120640"/>
            <a:ext cx="1371600" cy="310896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F2B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5193792"/>
            <a:ext cx="1371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F2BD63"/>
                </a:solidFill>
                <a:latin typeface="Cascadia Mono"/>
              </a:defRPr>
            </a:pPr>
            <a:r>
              <a:t>100 / 100 RISK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13264" y="5120640"/>
            <a:ext cx="1371600" cy="310896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69E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13264" y="5193792"/>
            <a:ext cx="1371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00" b="1">
                <a:solidFill>
                  <a:srgbClr val="69E3AC"/>
                </a:solidFill>
                <a:latin typeface="Cascadia Mono"/>
              </a:defRPr>
            </a:pPr>
            <a:r>
              <a:t>POST-SCAN 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9E3AC"/>
                </a:solidFill>
                <a:latin typeface="Cascadia Mono"/>
              </a:defRPr>
            </a:pPr>
            <a:r>
              <a:t>AGENTSHIELD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237744"/>
            <a:ext cx="2487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0">
                <a:solidFill>
                  <a:srgbClr val="8CA39F"/>
                </a:solidFill>
                <a:latin typeface="Cascadia Mono"/>
              </a:defRPr>
            </a:pPr>
            <a:r>
              <a:t>ET AI HACKATHON · AGENTIC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9E3AC"/>
                </a:solidFill>
                <a:latin typeface="Cascadia Mono"/>
              </a:defRPr>
            </a:pPr>
            <a:r>
              <a:t>PRODUCT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EDF5F1"/>
                </a:solidFill>
                <a:latin typeface="Aptos Display"/>
              </a:defRPr>
            </a:pPr>
            <a:r>
              <a:t>Real-time malicious file tracking and quarantine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11183111" cy="9144"/>
          </a:xfrm>
          <a:prstGeom prst="rect">
            <a:avLst/>
          </a:prstGeom>
          <a:solidFill>
            <a:srgbClr val="264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65992" y="651967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>
                <a:solidFill>
                  <a:srgbClr val="8CA39F"/>
                </a:solidFill>
                <a:latin typeface="Cascadia Mono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1737360"/>
            <a:ext cx="7671815" cy="4334256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6F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_tra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55648"/>
            <a:ext cx="7635240" cy="42976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58200" y="1828800"/>
            <a:ext cx="1389888" cy="914400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26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04504" y="197510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8CA39F"/>
                </a:solidFill>
                <a:latin typeface="Cascadia Mono"/>
              </a:defRPr>
            </a:pPr>
            <a:r>
              <a:t>FILES INSPECTED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04504" y="2267712"/>
            <a:ext cx="10972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6FB9FF"/>
                </a:solidFill>
                <a:latin typeface="Cascadia Mono"/>
              </a:defRPr>
            </a:pPr>
            <a: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12680" y="1828800"/>
            <a:ext cx="1389888" cy="914400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26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58984" y="197510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8CA39F"/>
                </a:solidFill>
                <a:latin typeface="Cascadia Mono"/>
              </a:defRPr>
            </a:pPr>
            <a:r>
              <a:t>ALLOWED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58984" y="2267712"/>
            <a:ext cx="10972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69E3AC"/>
                </a:solidFill>
                <a:latin typeface="Cascadia Mono"/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2926080"/>
            <a:ext cx="1389888" cy="914400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26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04504" y="307238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8CA39F"/>
                </a:solidFill>
                <a:latin typeface="Cascadia Mono"/>
              </a:defRPr>
            </a:pPr>
            <a:r>
              <a:t>QUARANTINED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04504" y="3364992"/>
            <a:ext cx="10972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FF747C"/>
                </a:solidFill>
                <a:latin typeface="Cascadia Mono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12680" y="2926080"/>
            <a:ext cx="1389888" cy="914400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26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58984" y="307238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8CA39F"/>
                </a:solidFill>
                <a:latin typeface="Cascadia Mono"/>
              </a:defRPr>
            </a:pPr>
            <a:r>
              <a:t>FINGERPRINTED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58984" y="3364992"/>
            <a:ext cx="10972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F2BD63"/>
                </a:solidFill>
                <a:latin typeface="Cascadia Mono"/>
              </a:defRPr>
            </a:pPr>
            <a:r>
              <a:t>SHA-256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4224528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9E3AC"/>
                </a:solidFill>
                <a:latin typeface="Cascadia Mono"/>
              </a:defRPr>
            </a:pPr>
            <a:r>
              <a:t>REAL PIPELINE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553712"/>
            <a:ext cx="2880360" cy="123444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EDF5F1"/>
                </a:solidFill>
                <a:latin typeface="Aptos"/>
              </a:defRPr>
            </a:pPr>
            <a:r>
              <a:t>  Hidden HTML instruction</a:t>
            </a:r>
          </a:p>
          <a:p>
            <a:pPr>
              <a:spcAft>
                <a:spcPts val="1000"/>
              </a:spcAft>
              <a:defRPr sz="1200">
                <a:solidFill>
                  <a:srgbClr val="EDF5F1"/>
                </a:solidFill>
                <a:latin typeface="Aptos"/>
              </a:defRPr>
            </a:pPr>
            <a:r>
              <a:t>  Encoded API injection</a:t>
            </a:r>
          </a:p>
          <a:p>
            <a:pPr>
              <a:spcAft>
                <a:spcPts val="1000"/>
              </a:spcAft>
              <a:defRPr sz="1200">
                <a:solidFill>
                  <a:srgbClr val="EDF5F1"/>
                </a:solidFill>
                <a:latin typeface="Aptos"/>
              </a:defRPr>
            </a:pPr>
            <a:r>
              <a:t>  Credential-theft email</a:t>
            </a:r>
          </a:p>
          <a:p>
            <a:pPr>
              <a:spcAft>
                <a:spcPts val="1000"/>
              </a:spcAft>
              <a:defRPr sz="1200">
                <a:solidFill>
                  <a:srgbClr val="EDF5F1"/>
                </a:solidFill>
                <a:latin typeface="Aptos"/>
              </a:defRPr>
            </a:pPr>
            <a:r>
              <a:t>  Clean report + code pass</a:t>
            </a:r>
          </a:p>
        </p:txBody>
      </p:sp>
      <p:sp>
        <p:nvSpPr>
          <p:cNvPr id="25" name="Oval 24"/>
          <p:cNvSpPr/>
          <p:nvPr/>
        </p:nvSpPr>
        <p:spPr>
          <a:xfrm>
            <a:off x="8458200" y="4626864"/>
            <a:ext cx="100584" cy="100584"/>
          </a:xfrm>
          <a:prstGeom prst="ellipse">
            <a:avLst/>
          </a:prstGeom>
          <a:solidFill>
            <a:srgbClr val="FF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58200" y="5056632"/>
            <a:ext cx="100584" cy="100584"/>
          </a:xfrm>
          <a:prstGeom prst="ellipse">
            <a:avLst/>
          </a:prstGeom>
          <a:solidFill>
            <a:srgbClr val="FF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58200" y="5486400"/>
            <a:ext cx="100584" cy="100584"/>
          </a:xfrm>
          <a:prstGeom prst="ellipse">
            <a:avLst/>
          </a:prstGeom>
          <a:solidFill>
            <a:srgbClr val="FF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58200" y="5916168"/>
            <a:ext cx="100584" cy="100584"/>
          </a:xfrm>
          <a:prstGeom prst="ellipse">
            <a:avLst/>
          </a:prstGeom>
          <a:solidFill>
            <a:srgbClr val="FF7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9E3AC"/>
                </a:solidFill>
                <a:latin typeface="Cascadia Mono"/>
              </a:defRPr>
            </a:pPr>
            <a:r>
              <a:t>AGENTSHIELD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237744"/>
            <a:ext cx="2487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0">
                <a:solidFill>
                  <a:srgbClr val="8CA39F"/>
                </a:solidFill>
                <a:latin typeface="Cascadia Mono"/>
              </a:defRPr>
            </a:pPr>
            <a:r>
              <a:t>ET AI HACKATHON · AGENTIC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9E3AC"/>
                </a:solidFill>
                <a:latin typeface="Cascadia Mono"/>
              </a:defRPr>
            </a:pPr>
            <a:r>
              <a:t>AI MODELS &amp; TECHNOLOGIES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EDF5F1"/>
                </a:solidFill>
                <a:latin typeface="Aptos Display"/>
              </a:defRPr>
            </a:pPr>
            <a:r>
              <a:t>Transparent hybrid detection with agentic controls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11183111" cy="9144"/>
          </a:xfrm>
          <a:prstGeom prst="rect">
            <a:avLst/>
          </a:prstGeom>
          <a:solidFill>
            <a:srgbClr val="264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65992" y="651967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>
                <a:solidFill>
                  <a:srgbClr val="8CA39F"/>
                </a:solidFill>
                <a:latin typeface="Cascadia Mono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" y="1810512"/>
            <a:ext cx="5065776" cy="2871216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69E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8_agen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28800"/>
            <a:ext cx="5029200" cy="28346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25312" y="1828800"/>
            <a:ext cx="2679192" cy="1143000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69E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9904" y="1975104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9E3AC"/>
                </a:solidFill>
                <a:latin typeface="Cascadia Mono"/>
              </a:defRPr>
            </a:pPr>
            <a:r>
              <a:t>DETECTION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9904" y="2267712"/>
            <a:ext cx="23225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EDF5F1"/>
                </a:solidFill>
                <a:latin typeface="Aptos"/>
              </a:defRPr>
            </a:pPr>
            <a:r>
              <a:t>Deterministic security rules + transparent TF-IDF/cosine semantic baseline.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96528" y="1828800"/>
            <a:ext cx="2679192" cy="1143000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6F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75104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FB9FF"/>
                </a:solidFill>
                <a:latin typeface="Cascadia Mono"/>
              </a:defRPr>
            </a:pPr>
            <a:r>
              <a:t>CONTENT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267712"/>
            <a:ext cx="23225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EDF5F1"/>
                </a:solidFill>
                <a:latin typeface="Aptos"/>
              </a:defRPr>
            </a:pPr>
            <a:r>
              <a:t>Recursive Base64/hex decoding; HTML, PDF, DOCX, EML and OCR adapters.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25312" y="3246120"/>
            <a:ext cx="2679192" cy="1143000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F2B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9904" y="3392424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2BD63"/>
                </a:solidFill>
                <a:latin typeface="Cascadia Mono"/>
              </a:defRPr>
            </a:pPr>
            <a:r>
              <a:t>AGENTIC 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9904" y="3685031"/>
            <a:ext cx="23225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EDF5F1"/>
                </a:solidFill>
                <a:latin typeface="Aptos"/>
              </a:defRPr>
            </a:pPr>
            <a:r>
              <a:t>Intent anchors, session-state risk, tool policy, confirmation and output guard.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96528" y="3246120"/>
            <a:ext cx="2679192" cy="1143000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69E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3392424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9E3AC"/>
                </a:solidFill>
                <a:latin typeface="Cascadia Mono"/>
              </a:defRPr>
            </a:pPr>
            <a:r>
              <a:t>PLATFORM &amp; TRUST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3685031"/>
            <a:ext cx="232257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EDF5F1"/>
                </a:solidFill>
                <a:latin typeface="Aptos"/>
              </a:defRPr>
            </a:pPr>
            <a:r>
              <a:t>Python · Flask · Redis/SQLite · HMAC-SHA256 · hash-chained audit.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010912"/>
            <a:ext cx="10881360" cy="749808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26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230368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9E3AC"/>
                </a:solidFill>
                <a:latin typeface="Cascadia Mono"/>
              </a:defRPr>
            </a:pPr>
            <a:r>
              <a:t>MODEL 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5175504"/>
            <a:ext cx="8732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EDF5F1"/>
                </a:solidFill>
                <a:latin typeface="Aptos"/>
              </a:defRPr>
            </a:pPr>
            <a:r>
              <a:t>Model-agnostic enforcement: no cloud LLM dependency. Production roadmap adds ONNX embeddings and adversarial retraining.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98932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>
                <a:solidFill>
                  <a:srgbClr val="69E3AC"/>
                </a:solidFill>
                <a:latin typeface="Aptos"/>
              </a:defRPr>
            </a:pPr>
            <a:r>
              <a:t>The model proposes. The security plane authorizes.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9E3AC"/>
                </a:solidFill>
                <a:latin typeface="Cascadia Mono"/>
              </a:defRPr>
            </a:pPr>
            <a:r>
              <a:t>AGENTSHIELD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237744"/>
            <a:ext cx="2487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0">
                <a:solidFill>
                  <a:srgbClr val="8CA39F"/>
                </a:solidFill>
                <a:latin typeface="Cascadia Mono"/>
              </a:defRPr>
            </a:pPr>
            <a:r>
              <a:t>ET AI HACKATHON · AGENTIC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9E3AC"/>
                </a:solidFill>
                <a:latin typeface="Cascadia Mono"/>
              </a:defRPr>
            </a:pPr>
            <a:r>
              <a:t>END-TO-END ENFORCEMENT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EDF5F1"/>
                </a:solidFill>
                <a:latin typeface="Aptos Display"/>
              </a:defRPr>
            </a:pPr>
            <a:r>
              <a:t>No unsafe handoff. No unsafe output.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11183111" cy="9144"/>
          </a:xfrm>
          <a:prstGeom prst="rect">
            <a:avLst/>
          </a:prstGeom>
          <a:solidFill>
            <a:srgbClr val="264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65992" y="651967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>
                <a:solidFill>
                  <a:srgbClr val="8CA39F"/>
                </a:solidFill>
                <a:latin typeface="Cascadia Mono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" y="1810512"/>
            <a:ext cx="5431536" cy="3072384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69E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7_hand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28800"/>
            <a:ext cx="5394960" cy="303580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81344" y="1810512"/>
            <a:ext cx="5431536" cy="3072384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6F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9_eg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828800"/>
            <a:ext cx="5394960" cy="3035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" y="5102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9E3AC"/>
                </a:solidFill>
                <a:latin typeface="Cascadia Mono"/>
              </a:defRPr>
            </a:pPr>
            <a:r>
              <a:t>INBOUND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404104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EDF5F1"/>
                </a:solidFill>
                <a:latin typeface="Aptos"/>
              </a:defRPr>
            </a:pPr>
            <a:r>
              <a:t>Blocked payloads contain no content and no capabilities.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5102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FB9FF"/>
                </a:solidFill>
                <a:latin typeface="Cascadia Mono"/>
              </a:defRPr>
            </a:pPr>
            <a:r>
              <a:t>EGRESS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5404104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EDF5F1"/>
                </a:solidFill>
                <a:latin typeface="Aptos"/>
              </a:defRPr>
            </a:pPr>
            <a:r>
              <a:t>Secrets, PII, system prompts, and honey-canaries are redacted.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9E3AC"/>
                </a:solidFill>
                <a:latin typeface="Cascadia Mono"/>
              </a:defRPr>
            </a:pPr>
            <a:r>
              <a:t>AGENTSHIELD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237744"/>
            <a:ext cx="2487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0">
                <a:solidFill>
                  <a:srgbClr val="8CA39F"/>
                </a:solidFill>
                <a:latin typeface="Cascadia Mono"/>
              </a:defRPr>
            </a:pPr>
            <a:r>
              <a:t>ET AI HACKATHON · AGENTIC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9E3AC"/>
                </a:solidFill>
                <a:latin typeface="Cascadia Mono"/>
              </a:defRPr>
            </a:pPr>
            <a:r>
              <a:t>MEASURED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EDF5F1"/>
                </a:solidFill>
                <a:latin typeface="Aptos Display"/>
              </a:defRPr>
            </a:pPr>
            <a:r>
              <a:t>Transparent evaluation—with limitations stated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11183111" cy="9144"/>
          </a:xfrm>
          <a:prstGeom prst="rect">
            <a:avLst/>
          </a:prstGeom>
          <a:solidFill>
            <a:srgbClr val="264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65992" y="651967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>
                <a:solidFill>
                  <a:srgbClr val="8CA39F"/>
                </a:solidFill>
                <a:latin typeface="Cascadia Mono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65376"/>
            <a:ext cx="1874519" cy="914400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26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2011680"/>
            <a:ext cx="158191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8CA39F"/>
                </a:solidFill>
                <a:latin typeface="Cascadia Mono"/>
              </a:defRPr>
            </a:pPr>
            <a:r>
              <a:t>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304288"/>
            <a:ext cx="1581911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6FB9FF"/>
                </a:solidFill>
                <a:latin typeface="Cascadia Mono"/>
              </a:defRPr>
            </a:pPr>
            <a:r>
              <a:t>1,900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5768" y="1865376"/>
            <a:ext cx="1874519" cy="914400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26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62072" y="2011680"/>
            <a:ext cx="158191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8CA39F"/>
                </a:solidFill>
                <a:latin typeface="Cascadia Mono"/>
              </a:defRPr>
            </a:pPr>
            <a:r>
              <a:t>SYNTHETIC 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2304288"/>
            <a:ext cx="1581911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69E3AC"/>
                </a:solidFill>
                <a:latin typeface="Cascadia Mono"/>
              </a:defRPr>
            </a:pPr>
            <a:r>
              <a:t>100%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37176" y="1865376"/>
            <a:ext cx="1874519" cy="914400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26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2011680"/>
            <a:ext cx="158191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8CA39F"/>
                </a:solidFill>
                <a:latin typeface="Cascadia Mono"/>
              </a:defRPr>
            </a:pPr>
            <a:r>
              <a:t>SYNTHETIC PRECISION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304288"/>
            <a:ext cx="1581911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69E3AC"/>
                </a:solidFill>
                <a:latin typeface="Cascadia Mono"/>
              </a:defRPr>
            </a:pPr>
            <a:r>
              <a:t>100%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026664"/>
            <a:ext cx="1874519" cy="914400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26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3172968"/>
            <a:ext cx="158191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8CA39F"/>
                </a:solidFill>
                <a:latin typeface="Cascadia Mono"/>
              </a:defRPr>
            </a:pPr>
            <a:r>
              <a:t>FALSE POSITIVES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" y="3465576"/>
            <a:ext cx="1581911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69E3AC"/>
                </a:solidFill>
                <a:latin typeface="Cascadia Mono"/>
              </a:defRPr>
            </a:pPr>
            <a:r>
              <a:t>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15768" y="3026664"/>
            <a:ext cx="1874519" cy="914400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26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62072" y="3172968"/>
            <a:ext cx="158191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8CA39F"/>
                </a:solidFill>
                <a:latin typeface="Cascadia Mono"/>
              </a:defRPr>
            </a:pPr>
            <a:r>
              <a:t>P95 LATENCY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62072" y="3465576"/>
            <a:ext cx="1581911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F2BD63"/>
                </a:solidFill>
                <a:latin typeface="Cascadia Mono"/>
              </a:defRPr>
            </a:pPr>
            <a:r>
              <a:t>13.1 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37176" y="3026664"/>
            <a:ext cx="1874519" cy="914400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26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3172968"/>
            <a:ext cx="158191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8CA39F"/>
                </a:solidFill>
                <a:latin typeface="Cascadia Mono"/>
              </a:defRPr>
            </a:pPr>
            <a:r>
              <a:t>INTEGRATION 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3465576"/>
            <a:ext cx="1581911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69E3AC"/>
                </a:solidFill>
                <a:latin typeface="Cascadia Mono"/>
              </a:defRPr>
            </a:pPr>
            <a:r>
              <a:t>13 / 13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59752" y="1837943"/>
            <a:ext cx="4443984" cy="2514600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69E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10_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856231"/>
            <a:ext cx="4407408" cy="2478024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7178040" y="4608576"/>
            <a:ext cx="4407408" cy="1078992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F2B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88352" y="4782312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2BD63"/>
                </a:solidFill>
                <a:latin typeface="Cascadia Mono"/>
              </a:defRPr>
            </a:pPr>
            <a:r>
              <a:t>HONEST LIMITATION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5093208"/>
            <a:ext cx="387705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EDF5F1"/>
                </a:solidFill>
                <a:latin typeface="Aptos"/>
              </a:defRPr>
            </a:pPr>
            <a:r>
              <a:t>Synthetic regression evidence—not production accuracy. Independent benchmark validation is the next gate.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413248"/>
            <a:ext cx="6263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8CA39F"/>
                </a:solidFill>
                <a:latin typeface="Aptos"/>
              </a:defRPr>
            </a:pPr>
            <a:r>
              <a:t>Coverage: 45 attack phrasings · 10 context wrappers · PDF/DOCX/EML/HTML adapter tests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9E3AC"/>
                </a:solidFill>
                <a:latin typeface="Cascadia Mono"/>
              </a:defRPr>
            </a:pPr>
            <a:r>
              <a:t>AGENTSHIELD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237744"/>
            <a:ext cx="2487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0">
                <a:solidFill>
                  <a:srgbClr val="8CA39F"/>
                </a:solidFill>
                <a:latin typeface="Cascadia Mono"/>
              </a:defRPr>
            </a:pPr>
            <a:r>
              <a:t>ET AI HACKATHON · AGENTIC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9E3AC"/>
                </a:solidFill>
                <a:latin typeface="Cascadia Mono"/>
              </a:defRPr>
            </a:pPr>
            <a:r>
              <a:t>BUSINESS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064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EDF5F1"/>
                </a:solidFill>
                <a:latin typeface="Aptos Display"/>
              </a:defRPr>
            </a:pPr>
            <a:r>
              <a:t>Business impact, scalability, and future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11183111" cy="9144"/>
          </a:xfrm>
          <a:prstGeom prst="rect">
            <a:avLst/>
          </a:prstGeom>
          <a:solidFill>
            <a:srgbClr val="264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65992" y="651967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>
                <a:solidFill>
                  <a:srgbClr val="8CA39F"/>
                </a:solidFill>
                <a:latin typeface="Cascadia Mono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47088"/>
            <a:ext cx="3429000" cy="1097280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FF7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391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FF747C"/>
                </a:solidFill>
                <a:latin typeface="Cascadia Mono"/>
              </a:defRPr>
            </a:pPr>
            <a:r>
              <a:t>RISK REDUCTION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86584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EDF5F1"/>
                </a:solidFill>
                <a:latin typeface="Aptos"/>
              </a:defRPr>
            </a:pPr>
            <a:r>
              <a:t>Stops malicious influence before context or tool execution.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47088"/>
            <a:ext cx="3429000" cy="1097280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69E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0391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9E3AC"/>
                </a:solidFill>
                <a:latin typeface="Cascadia Mono"/>
              </a:defRPr>
            </a:pPr>
            <a:r>
              <a:t>PRODUCTIVITY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86584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EDF5F1"/>
                </a:solidFill>
                <a:latin typeface="Aptos"/>
              </a:defRPr>
            </a:pPr>
            <a:r>
              <a:t>Preserves legitimate content instead of blocking entire workflows.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847088"/>
            <a:ext cx="3429000" cy="1097280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6F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20391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FB9FF"/>
                </a:solidFill>
                <a:latin typeface="Cascadia Mono"/>
              </a:defRPr>
            </a:pPr>
            <a:r>
              <a:t>AUDITABILITY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386584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EDF5F1"/>
                </a:solidFill>
                <a:latin typeface="Aptos"/>
              </a:defRPr>
            </a:pPr>
            <a:r>
              <a:t>Creates evidence for security review, compliance, and incident response.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45643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9E3AC"/>
                </a:solidFill>
                <a:latin typeface="Cascadia Mono"/>
              </a:defRPr>
            </a:pPr>
            <a:r>
              <a:t>PRODUCTION ROADMAP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822191"/>
            <a:ext cx="2532888" cy="1280160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26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95928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9E3AC"/>
                </a:solidFill>
                <a:latin typeface="Cascadia Mono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9684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EDF5F1"/>
                </a:solidFill>
                <a:latin typeface="Aptos"/>
              </a:defRPr>
            </a:pPr>
            <a:r>
              <a:t>Independent benchmark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443984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8CA39F"/>
                </a:solidFill>
                <a:latin typeface="Aptos"/>
              </a:defRPr>
            </a:pPr>
            <a:r>
              <a:t>Calibrated thresholds + confidence intervals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79" y="3822191"/>
            <a:ext cx="2532888" cy="1280160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26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39" y="3995928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9E3AC"/>
                </a:solidFill>
                <a:latin typeface="Cascadia Mono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58768" y="39684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EDF5F1"/>
                </a:solidFill>
                <a:latin typeface="Aptos"/>
              </a:defRPr>
            </a:pPr>
            <a:r>
              <a:t>Model upgrade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39" y="4443984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8CA39F"/>
                </a:solidFill>
                <a:latin typeface="Aptos"/>
              </a:defRPr>
            </a:pPr>
            <a:r>
              <a:t>ONNX embeddings + adversarial retraining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822191"/>
            <a:ext cx="2532888" cy="1280160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26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995928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9E3AC"/>
                </a:solidFill>
                <a:latin typeface="Cascadia Mono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7688" y="39684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EDF5F1"/>
                </a:solidFill>
                <a:latin typeface="Aptos"/>
              </a:defRPr>
            </a:pPr>
            <a:r>
              <a:t>Enterprise 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443984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8CA39F"/>
                </a:solidFill>
                <a:latin typeface="Aptos"/>
              </a:defRPr>
            </a:pPr>
            <a:r>
              <a:t>RBAC · tenant isolation · SIEM export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19" y="3822191"/>
            <a:ext cx="2532888" cy="1280160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26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98280" y="3995928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9E3AC"/>
                </a:solidFill>
                <a:latin typeface="Cascadia Mono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7" y="39684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EDF5F1"/>
                </a:solidFill>
                <a:latin typeface="Aptos"/>
              </a:defRPr>
            </a:pPr>
            <a:r>
              <a:t>D3 completion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4443984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8CA39F"/>
                </a:solidFill>
                <a:latin typeface="Aptos"/>
              </a:defRPr>
            </a:pPr>
            <a:r>
              <a:t>OCR runtime + representative image 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59612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1">
                <a:solidFill>
                  <a:srgbClr val="69E3AC"/>
                </a:solidFill>
                <a:latin typeface="Aptos"/>
              </a:defRPr>
            </a:pPr>
            <a:r>
              <a:t>Designed as an adapter-based, policy-versioned control plane that scales independently of the agent.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9E3AC"/>
                </a:solidFill>
                <a:latin typeface="Cascadia Mono"/>
              </a:defRPr>
            </a:pPr>
            <a:r>
              <a:t>VISHWAJEET KUMAR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5577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4000" b="1">
                <a:solidFill>
                  <a:srgbClr val="EDF5F1"/>
                </a:solidFill>
                <a:latin typeface="Aptos Display"/>
              </a:defRPr>
            </a:pPr>
            <a:r>
              <a:t>SentinelGate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56231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69E3AC"/>
                </a:solidFill>
                <a:latin typeface="Aptos"/>
              </a:defRPr>
            </a:pPr>
            <a:r>
              <a:t>Security outside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05456"/>
            <a:ext cx="5760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0">
                <a:solidFill>
                  <a:srgbClr val="8CA39F"/>
                </a:solidFill>
                <a:latin typeface="Aptos"/>
              </a:defRPr>
            </a:pPr>
            <a:r>
              <a:t>Untrusted content becomes controlled data—not agent authority.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319272"/>
            <a:ext cx="2651760" cy="658368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26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343814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9E3AC"/>
                </a:solidFill>
                <a:latin typeface="Cascadia Mono"/>
              </a:defRPr>
            </a:pPr>
            <a:r>
              <a:t>Significant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3419856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EDF5F1"/>
                </a:solidFill>
                <a:latin typeface="Aptos"/>
              </a:defRPr>
            </a:pPr>
            <a:r>
              <a:t>Protects real agent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3319272"/>
            <a:ext cx="2651760" cy="658368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26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48456" y="343814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9E3AC"/>
                </a:solidFill>
                <a:latin typeface="Cascadia Mono"/>
              </a:defRPr>
            </a:pPr>
            <a:r>
              <a:t>Innovative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3419856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EDF5F1"/>
                </a:solidFill>
                <a:latin typeface="Aptos"/>
              </a:defRPr>
            </a:pPr>
            <a:r>
              <a:t>Signed context + intent anchors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187952"/>
            <a:ext cx="2651760" cy="658368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26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430682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9E3AC"/>
                </a:solidFill>
                <a:latin typeface="Cascadia Mono"/>
              </a:defRPr>
            </a:pPr>
            <a:r>
              <a:t>Agentic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4288536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EDF5F1"/>
                </a:solidFill>
                <a:latin typeface="Aptos"/>
              </a:defRPr>
            </a:pPr>
            <a:r>
              <a:t>State, tools, recovery, oversight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02152" y="4187952"/>
            <a:ext cx="2651760" cy="658368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264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48456" y="430682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9E3AC"/>
                </a:solidFill>
                <a:latin typeface="Cascadia Mono"/>
              </a:defRPr>
            </a:pPr>
            <a:r>
              <a:t>Robust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4288536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EDF5F1"/>
                </a:solidFill>
                <a:latin typeface="Aptos"/>
              </a:defRPr>
            </a:pPr>
            <a:r>
              <a:t>Fail closed + tamper-evident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685800"/>
            <a:ext cx="4709160" cy="5257800"/>
          </a:xfrm>
          <a:prstGeom prst="roundRect">
            <a:avLst/>
          </a:prstGeom>
          <a:solidFill>
            <a:srgbClr val="091A20"/>
          </a:solidFill>
          <a:ln w="12700">
            <a:solidFill>
              <a:srgbClr val="69E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59752" y="98755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9E3AC"/>
                </a:solidFill>
                <a:latin typeface="Cascadia Mono"/>
              </a:defRPr>
            </a:pPr>
            <a:r>
              <a:t>SUBMISSION CHECKLIST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9752" y="15361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EDF5F1"/>
                </a:solidFill>
                <a:latin typeface="Aptos"/>
              </a:defRPr>
            </a:pPr>
            <a:r>
              <a:t>✓  Working prototype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011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EDF5F1"/>
                </a:solidFill>
                <a:latin typeface="Aptos"/>
              </a:defRPr>
            </a:pPr>
            <a:r>
              <a:t>✓  Pitch 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24871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EDF5F1"/>
                </a:solidFill>
                <a:latin typeface="Aptos"/>
              </a:defRPr>
            </a:pPr>
            <a:r>
              <a:t>✓  Narrated demo video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59752" y="3072384"/>
            <a:ext cx="4078224" cy="896112"/>
          </a:xfrm>
          <a:prstGeom prst="roundRect">
            <a:avLst/>
          </a:prstGeom>
          <a:solidFill>
            <a:srgbClr val="0D2229"/>
          </a:solidFill>
          <a:ln w="12700">
            <a:solidFill>
              <a:srgbClr val="69E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20" y="3209544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9E3AC"/>
                </a:solidFill>
                <a:latin typeface="Cascadia Mono"/>
              </a:defRPr>
            </a:pPr>
            <a:r>
              <a:t>GITHUB REPOSITORY</a:t>
            </a:r>
          </a:p>
        </p:txBody>
      </p:sp>
      <p:sp>
        <p:nvSpPr>
          <p:cNvPr id="26" name="TextBox 25">
            <a:hlinkClick r:id="rId2"/>
          </p:cNvPr>
          <p:cNvSpPr txBox="1"/>
          <p:nvPr/>
        </p:nvSpPr>
        <p:spPr>
          <a:xfrm>
            <a:off x="7360920" y="3456432"/>
            <a:ext cx="36118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EDF5F1"/>
                </a:solidFill>
                <a:latin typeface="Aptos"/>
              </a:defRPr>
            </a:pPr>
            <a:r>
              <a:t>github.com/vishwajeetkumar9631/</a:t>
            </a:r>
            <a:br/>
            <a:r>
              <a:t>sentinelgate-agentic-security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9752" y="431596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8CA39F"/>
                </a:solidFill>
                <a:latin typeface="Cascadia Mono"/>
              </a:defRPr>
            </a:pPr>
            <a:r>
              <a:t>Final claim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9752" y="46177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69E3AC"/>
                </a:solidFill>
                <a:latin typeface="Aptos"/>
              </a:defRPr>
            </a:pPr>
            <a:r>
              <a:t>F3 implemented · D2 verified · D3 conditional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9752" y="53492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EDF5F1"/>
                </a:solidFill>
                <a:latin typeface="Aptos"/>
              </a:defRPr>
            </a:pPr>
            <a:r>
              <a:t>Inspect before the agent can act.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23620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8CA39F"/>
                </a:solidFill>
                <a:latin typeface="Aptos"/>
              </a:defRPr>
            </a:pPr>
            <a:r>
              <a:t>ET AI Hackathon: Agentic Edition · Presented by Accenture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SentinelGate - Zero-Trust Prompt Injection Firewall</dc:title>
  <dc:subject>ET AI Hackathon: Agentic Edition | Presented by Accenture</dc:subject>
  <dc:creator>Vishwajeet Kumar</dc:creator>
  <cp:keywords>Agentic AI, cybersecurity, prompt injection, zero trust, SentinelGate, AgentShield</cp:keywords>
  <dc:description>Submission pitch deck for Problem Statement 2: Agentic Cybersecurity - Prompt Injection Firewall.</dc:description>
  <cp:lastModifiedBy>Vishwajeet Kumar</cp:lastModifiedBy>
  <cp:revision>1</cp:revision>
  <dcterms:created xsi:type="dcterms:W3CDTF">2013-01-27T09:14:16Z</dcterms:created>
  <dcterms:modified xsi:type="dcterms:W3CDTF">2013-01-27T09:15:58Z</dcterms:modified>
  <cp:category/>
</cp:coreProperties>
</file>